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06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321" r:id="rId6"/>
    <p:sldId id="269" r:id="rId7"/>
    <p:sldId id="270" r:id="rId8"/>
    <p:sldId id="286" r:id="rId9"/>
    <p:sldId id="322" r:id="rId10"/>
    <p:sldId id="324" r:id="rId11"/>
    <p:sldId id="323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262" r:id="rId20"/>
    <p:sldId id="320" r:id="rId21"/>
    <p:sldId id="287" r:id="rId22"/>
    <p:sldId id="288" r:id="rId23"/>
    <p:sldId id="289" r:id="rId24"/>
    <p:sldId id="290" r:id="rId25"/>
    <p:sldId id="298" r:id="rId26"/>
    <p:sldId id="300" r:id="rId27"/>
    <p:sldId id="306" r:id="rId28"/>
    <p:sldId id="307" r:id="rId29"/>
    <p:sldId id="308" r:id="rId30"/>
    <p:sldId id="309" r:id="rId31"/>
    <p:sldId id="279" r:id="rId32"/>
    <p:sldId id="280" r:id="rId33"/>
    <p:sldId id="285" r:id="rId34"/>
    <p:sldId id="284" r:id="rId35"/>
    <p:sldId id="301" r:id="rId36"/>
    <p:sldId id="310" r:id="rId37"/>
    <p:sldId id="302" r:id="rId38"/>
    <p:sldId id="303" r:id="rId39"/>
    <p:sldId id="305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271" r:id="rId50"/>
    <p:sldId id="272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81320" autoAdjust="0"/>
  </p:normalViewPr>
  <p:slideViewPr>
    <p:cSldViewPr snapToGrid="0">
      <p:cViewPr varScale="1">
        <p:scale>
          <a:sx n="94" d="100"/>
          <a:sy n="94" d="100"/>
        </p:scale>
        <p:origin x="1518" y="96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5E8F6-2C4A-4A25-9B28-7230C1C3F7B4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60C7D5-3E60-444C-88BE-4965D1B6779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0C7D5-3E60-444C-88BE-4965D1B67790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206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3F53A-A362-F8D5-A30F-46D4CCBF2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7DC44-46E8-9D34-75B0-C986B0C3B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933637-5640-858D-4E03-0021AC1B9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22005-8E79-C6A3-3735-57E05E0A5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0C7D5-3E60-444C-88BE-4965D1B67790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125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DE2A2-B9D3-F589-FF32-73075A564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8C477-DBF1-22C6-A9BD-07AA1C94C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34397-CD1B-B1FA-87DF-174C1DABF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38C20-D174-C1CB-2E0D-58A40ABA6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0C7D5-3E60-444C-88BE-4965D1B67790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080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EF6B6-99D1-4E86-5177-77FD7A259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EC03A-9121-D15F-073E-66C285758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46933E-2E01-D719-56DA-C4FC92C54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F973A-A93C-DC21-67FE-7AB8803CD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0C7D5-3E60-444C-88BE-4965D1B67790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13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A11F-558C-7A12-E837-6EE2B6CA4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8DBF5-907A-13B5-00EC-AA29763D5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7B3F8-59BE-797F-2FCA-9551B97C5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21A5E-2673-043D-FC65-5FF3D1AC1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0C7D5-3E60-444C-88BE-4965D1B67790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799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89BC9-299F-11D0-F270-1CF4A55A8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D5F2E-22B0-46C8-78F0-468F033DB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D8158-1CD4-7B58-4EE2-AED7D96E8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64957-19B5-F15D-D3E6-EB73FFBB2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60C7D5-3E60-444C-88BE-4965D1B67790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446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355F9-3411-DF48-52D1-E0F0EDE26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FFEA0-AE3F-1960-70C2-497FA8B56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793E5-7175-D946-E612-1193FC23F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0FD3-740C-4D6A-B21A-9E915D2373D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15684-02AE-AB83-6130-9B22D2343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05054-861D-C6E4-837D-38C371455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667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776F-768F-23FB-CAE7-AF2294150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DC629-012E-29FE-5AB6-C8F23F432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CF94C-A2BD-35CD-0BC0-A3A4B7594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5D1BC-E173-4AB1-2CB8-A98129D92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09C24-5B43-92DC-BAC2-D625CA82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084CD8-041A-110E-958C-DCE47B2B8A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0528" y="0"/>
            <a:ext cx="987552" cy="9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52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7B2D-CD4D-8258-B2C6-90B3DBD5F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83CF0-3FFA-EA04-6D07-185EDA58D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3B7C7-2160-71F4-5B40-0DB09DA2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DA0E-BC09-4444-96AE-A4A60A9F9178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9CB53-DE4C-2038-0FA2-F4CBA320D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57410-EA5D-7247-CACF-DBEE8845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974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1DDA6-18E5-516F-9A56-5B7F2F9E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43AE2-4E0C-3F32-FA33-2FBF33466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CEA6E-A82E-92E9-027C-216D38755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6982A-55CA-8CE0-6508-18310EECD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B90B-37DA-48D0-9FAE-CF2A3D83687D}" type="datetime1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38EEC-6053-1D94-D53E-EA98FB4B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BA576-E78B-4F47-D38C-A1CDAD2B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219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72D3-5A83-C9CA-B525-FCC688474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96D97-C2EB-C8D0-E184-8514994F8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CDCF9-3C54-1F81-04CB-853743ED7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88595-9FA3-F737-11B2-24C3A7546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CF8D83-479E-EDEC-763A-79586F391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BBEFD-C455-F1E0-EA4D-E714A5BC3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D6E3E-360E-483F-8609-949F7838DB8C}" type="datetime1">
              <a:rPr lang="en-IN" smtClean="0"/>
              <a:t>17-09-2025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98F9B7-FF27-70B2-33B5-8D462CB34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6FDE9F-22C8-4DD6-32B0-2C306D406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50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7401-AF12-F45D-8B43-834163D36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BA15B7-CEFA-D965-45BF-595241E5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5ABA3-7DE5-4049-B83B-27E6D0B61396}" type="datetime1">
              <a:rPr lang="en-IN" smtClean="0"/>
              <a:t>17-09-2025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D2D48C-4AE9-ED8F-8CA0-3D15FFEB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62D14B-DD2B-24C7-DE8E-035FBFF8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19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991391-2EAC-0A71-7B83-751795510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B95EA-0E45-4A81-A3A6-7D3B29C18C8F}" type="datetime1">
              <a:rPr lang="en-IN" smtClean="0"/>
              <a:t>17-09-2025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9B201B-496D-DADD-90BC-CE498127C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C25E2-9CB6-C52F-8443-C2298E68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4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33C4-20E8-D7C1-77B3-AC8D60686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54B57-9359-5267-9F03-98E7EB67F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6F87B-BF01-6172-7BDD-81E4A03CD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12256-0D0B-E7EB-F1DE-B73E9E720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523D0-34F1-4E2E-904D-DF4169017D97}" type="datetime1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92A06-20E7-F780-61F3-E3874C340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64DC0-A55B-019A-9533-01F987098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149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ABDD9-F495-E9F7-166E-94270F2F4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5E4E1E-87D1-7517-807A-36D5573F00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CAD2F-FC1A-E87C-7607-285C9E028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AF74A-D381-FE12-EE5C-875A9E5D0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74618-A92D-48B7-B15D-97B05E4B58B4}" type="datetime1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AB195-0DE9-F851-6ED7-9233FAD5D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D8569-6487-CE4B-9D17-D2060D363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94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D6050-D40F-4D06-2E0B-58B627258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33509-A447-CAEC-1B0C-A1B4A3DC9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55FDA-703E-2D52-2CB7-3BE78C9E6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CD76-7FAB-433F-B4C3-7C2F8A5CE364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4EB00-9748-85D1-1149-A91970DA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6294-3B0E-36CB-176D-729EC7BBF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644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99B1FC-E157-0DC1-1EE5-BCB26E4A55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F824E2-6B06-2E99-950D-0AA903ED9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EDE83-FF13-B998-D3E9-A34F89B33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7CC73-08FA-4335-8D79-28222FF9E370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EFA22-5B36-9874-B087-E32E2C71F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EED49-0A40-EEF4-5FA5-7DA0F00E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206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9586F3-D5E3-ACEA-36FB-4A831DE7F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1F537-9806-FAA8-31D8-AC5035C95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A2D1-6ACD-A82A-C6B1-E5460099FF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D0B53-A9A1-4B13-B38F-3602F5C1EA96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FB95A-2832-51BF-BE72-C48843EC6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F7186-ED23-9D4D-B564-1BAB28C3E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B6CFF-86B4-4189-B5D6-4E9D6E349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04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127" y="3239784"/>
            <a:ext cx="9144000" cy="684366"/>
          </a:xfrm>
        </p:spPr>
        <p:txBody>
          <a:bodyPr>
            <a:noAutofit/>
          </a:bodyPr>
          <a:lstStyle/>
          <a:p>
            <a:r>
              <a:rPr lang="en-IN" sz="4400" b="1" dirty="0"/>
              <a:t>Title of Project : Plan My Journey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1348" y="5192506"/>
            <a:ext cx="4291584" cy="1067974"/>
          </a:xfrm>
        </p:spPr>
        <p:txBody>
          <a:bodyPr/>
          <a:lstStyle/>
          <a:p>
            <a:r>
              <a:rPr lang="en-IN" dirty="0"/>
              <a:t>Submitted to: Dr. S Devidas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832" y="254645"/>
            <a:ext cx="1815656" cy="1717745"/>
          </a:xfrm>
          <a:prstGeom prst="rect">
            <a:avLst/>
          </a:prstGeom>
        </p:spPr>
      </p:pic>
      <p:sp>
        <p:nvSpPr>
          <p:cNvPr id="5" name="Subtitle 2"/>
          <p:cNvSpPr txBox="1"/>
          <p:nvPr/>
        </p:nvSpPr>
        <p:spPr>
          <a:xfrm>
            <a:off x="7596505" y="4451350"/>
            <a:ext cx="4595495" cy="18091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000" dirty="0"/>
              <a:t>Submitted By: 	</a:t>
            </a:r>
          </a:p>
          <a:p>
            <a:pPr algn="l"/>
            <a:r>
              <a:rPr lang="en-IN" sz="2000" dirty="0"/>
              <a:t>1. Avinash Chaturvedi (24204031</a:t>
            </a:r>
            <a:r>
              <a:rPr lang="en-IN" sz="2000" dirty="0">
                <a:solidFill>
                  <a:srgbClr val="00B0F0"/>
                </a:solidFill>
              </a:rPr>
              <a:t>107</a:t>
            </a:r>
            <a:r>
              <a:rPr lang="en-IN" sz="2000" dirty="0"/>
              <a:t>)</a:t>
            </a:r>
          </a:p>
          <a:p>
            <a:pPr algn="l"/>
            <a:r>
              <a:rPr lang="en-IN" sz="2000" dirty="0"/>
              <a:t>2. Piyush Mahale (24204031</a:t>
            </a:r>
            <a:r>
              <a:rPr lang="en-IN" sz="2000" dirty="0">
                <a:solidFill>
                  <a:srgbClr val="00B0F0"/>
                </a:solidFill>
              </a:rPr>
              <a:t>130</a:t>
            </a:r>
            <a:r>
              <a:rPr lang="en-IN" sz="2000" dirty="0"/>
              <a:t>)</a:t>
            </a:r>
          </a:p>
          <a:p>
            <a:pPr algn="l"/>
            <a:r>
              <a:rPr lang="en-IN" sz="2000" dirty="0"/>
              <a:t>3. Shubham Gound (24204031</a:t>
            </a:r>
            <a:r>
              <a:rPr lang="en-IN" sz="2000" dirty="0">
                <a:solidFill>
                  <a:srgbClr val="00B0F0"/>
                </a:solidFill>
              </a:rPr>
              <a:t>154</a:t>
            </a:r>
            <a:r>
              <a:rPr lang="en-IN" sz="2000" dirty="0"/>
              <a:t>)</a:t>
            </a:r>
          </a:p>
          <a:p>
            <a:pPr algn="l"/>
            <a:r>
              <a:rPr lang="en-IN" sz="2000" dirty="0"/>
              <a:t>4. Sourav Prakash (24204031</a:t>
            </a:r>
            <a:r>
              <a:rPr lang="en-IN" sz="2000" dirty="0">
                <a:solidFill>
                  <a:srgbClr val="00B0F0"/>
                </a:solidFill>
              </a:rPr>
              <a:t>219</a:t>
            </a:r>
            <a:r>
              <a:rPr lang="en-IN" sz="2000" dirty="0"/>
              <a:t>)</a:t>
            </a:r>
          </a:p>
          <a:p>
            <a:pPr algn="l"/>
            <a:r>
              <a:rPr lang="en-IN" sz="2000" dirty="0"/>
              <a:t>5. Shristi Kumari (24204031</a:t>
            </a:r>
            <a:r>
              <a:rPr lang="en-IN" sz="2000" dirty="0">
                <a:solidFill>
                  <a:srgbClr val="00B0F0"/>
                </a:solidFill>
              </a:rPr>
              <a:t>242</a:t>
            </a:r>
            <a:r>
              <a:rPr lang="en-IN" sz="2000" dirty="0"/>
              <a:t>)</a:t>
            </a:r>
          </a:p>
          <a:p>
            <a:pPr algn="l"/>
            <a:endParaRPr lang="en-IN" sz="2000" dirty="0"/>
          </a:p>
        </p:txBody>
      </p:sp>
      <p:sp>
        <p:nvSpPr>
          <p:cNvPr id="6" name="Title 1"/>
          <p:cNvSpPr txBox="1"/>
          <p:nvPr/>
        </p:nvSpPr>
        <p:spPr>
          <a:xfrm>
            <a:off x="371602" y="1972136"/>
            <a:ext cx="11448288" cy="10679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/>
              <a:t>Department of Mathematics, Bioinformatics, and Computer Applications</a:t>
            </a:r>
          </a:p>
          <a:p>
            <a:r>
              <a:rPr lang="en-US" sz="28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/>
              </a:rPr>
              <a:t>Maulana Azad National Institute of Technology, Bhopal</a:t>
            </a:r>
            <a:endParaRPr lang="en-IN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8737"/>
            <a:ext cx="10515600" cy="4351338"/>
          </a:xfrm>
        </p:spPr>
        <p:txBody>
          <a:bodyPr>
            <a:normAutofit fontScale="75000" lnSpcReduction="20000"/>
          </a:bodyPr>
          <a:lstStyle/>
          <a:p>
            <a:pPr>
              <a:lnSpc>
                <a:spcPct val="150000"/>
              </a:lnSpc>
            </a:pPr>
            <a:r>
              <a:rPr lang="en-IN" dirty="0"/>
              <a:t>Introduction</a:t>
            </a:r>
          </a:p>
          <a:p>
            <a:pPr>
              <a:lnSpc>
                <a:spcPct val="150000"/>
              </a:lnSpc>
            </a:pPr>
            <a:r>
              <a:rPr lang="en-IN" dirty="0"/>
              <a:t>About Project</a:t>
            </a:r>
          </a:p>
          <a:p>
            <a:pPr>
              <a:lnSpc>
                <a:spcPct val="150000"/>
              </a:lnSpc>
            </a:pPr>
            <a:r>
              <a:rPr lang="en-IN" dirty="0"/>
              <a:t>DFD</a:t>
            </a:r>
          </a:p>
          <a:p>
            <a:pPr>
              <a:lnSpc>
                <a:spcPct val="150000"/>
              </a:lnSpc>
            </a:pPr>
            <a:r>
              <a:rPr lang="en-IN" dirty="0"/>
              <a:t>ER Diagram</a:t>
            </a:r>
          </a:p>
          <a:p>
            <a:pPr>
              <a:lnSpc>
                <a:spcPct val="150000"/>
              </a:lnSpc>
            </a:pPr>
            <a:r>
              <a:rPr lang="en-IN" dirty="0"/>
              <a:t>Data Dictionary</a:t>
            </a:r>
          </a:p>
          <a:p>
            <a:pPr>
              <a:lnSpc>
                <a:spcPct val="150000"/>
              </a:lnSpc>
            </a:pPr>
            <a:r>
              <a:rPr lang="en-IN" dirty="0"/>
              <a:t>Sample queries</a:t>
            </a:r>
          </a:p>
          <a:p>
            <a:pPr>
              <a:lnSpc>
                <a:spcPct val="150000"/>
              </a:lnSpc>
            </a:pPr>
            <a:r>
              <a:rPr lang="en-IN" dirty="0"/>
              <a:t>Conclusion </a:t>
            </a:r>
          </a:p>
          <a:p>
            <a:pPr>
              <a:lnSpc>
                <a:spcPct val="150000"/>
              </a:lnSpc>
            </a:pPr>
            <a:r>
              <a:rPr lang="en-IN" dirty="0"/>
              <a:t>References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B3BEC-9EA0-4347-8753-8328B0EC0B70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Plan My Journey</a:t>
            </a:r>
            <a:r>
              <a:rPr lang="en-US" dirty="0"/>
              <a:t> is a web application designed to help users plan their trips better by setting a budget first and finding buses and hotels that match it.</a:t>
            </a:r>
          </a:p>
          <a:p>
            <a:r>
              <a:rPr lang="en-US" dirty="0"/>
              <a:t>Users can choose to </a:t>
            </a:r>
            <a:r>
              <a:rPr lang="en-US" u="sng" dirty="0"/>
              <a:t>travel solo or form groups</a:t>
            </a:r>
            <a:r>
              <a:rPr lang="en-US" dirty="0"/>
              <a:t> to share costs and make trips more affordable.</a:t>
            </a:r>
          </a:p>
          <a:p>
            <a:r>
              <a:rPr lang="en-US" dirty="0"/>
              <a:t>The platform makes it easy to manage travel expenses, </a:t>
            </a:r>
            <a:r>
              <a:rPr lang="en-US" u="sng" dirty="0"/>
              <a:t>explore options within your budget</a:t>
            </a:r>
            <a:r>
              <a:rPr lang="en-US" dirty="0"/>
              <a:t>, and complete bookings securely, with an admin handling group coordination and approvals.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DBA9A-974A-40CC-95C0-E1368F7718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94072"/>
            <a:ext cx="10515600" cy="1325563"/>
          </a:xfrm>
        </p:spPr>
        <p:txBody>
          <a:bodyPr/>
          <a:lstStyle/>
          <a:p>
            <a:r>
              <a:rPr lang="en-IN" dirty="0"/>
              <a:t>About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66260"/>
            <a:ext cx="105156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Plan My Journey</a:t>
            </a:r>
            <a:r>
              <a:rPr lang="en-US" dirty="0"/>
              <a:t> web application is built to make trip planning easier and budget-friendly for travelers.</a:t>
            </a:r>
            <a:br>
              <a:rPr lang="en-US" dirty="0"/>
            </a:br>
            <a:r>
              <a:rPr lang="en-US" dirty="0"/>
              <a:t>The key functionalities of the system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Trip Planning Form</a:t>
            </a:r>
            <a:r>
              <a:rPr lang="en-US" dirty="0"/>
              <a:t>: Users can enter source, destination, travel dates, number of travelers, and budget to find trips that fit their needs.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 and Hotel Booking</a:t>
            </a:r>
            <a:r>
              <a:rPr lang="en-US" dirty="0"/>
              <a:t>: Users can view available buses and hotels within their budget and book seats and rooms directly.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Group Pooling</a:t>
            </a:r>
            <a:r>
              <a:rPr lang="en-US" dirty="0"/>
              <a:t>: Users can choose to pool trips with others, select group size, and filter groups by preferences like gender or 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Group Management</a:t>
            </a:r>
            <a:r>
              <a:rPr lang="en-US" dirty="0"/>
              <a:t>: Admin can approve group join requests, manage group formation, and lock groups once full.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Package </a:t>
            </a:r>
            <a:r>
              <a:rPr lang="en-US" dirty="0"/>
              <a:t>: Admin provides </a:t>
            </a:r>
            <a:r>
              <a:rPr lang="en-US" dirty="0" err="1"/>
              <a:t>bus+hotel</a:t>
            </a:r>
            <a:r>
              <a:rPr lang="en-US" dirty="0"/>
              <a:t> packages for groups.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72AF-4898-4E7C-A0CE-F315E8B2EE0F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A89BB-B9AC-185F-9A32-7FF5B593B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Techstack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040ED-D4DF-52F6-43B5-C9A0BA1FD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Frontend</a:t>
            </a:r>
            <a:r>
              <a:rPr lang="en-US" dirty="0"/>
              <a:t>: React 18 + JavaScript</a:t>
            </a:r>
          </a:p>
          <a:p>
            <a:r>
              <a:rPr lang="en-US" b="1" dirty="0"/>
              <a:t>Build Tool</a:t>
            </a:r>
            <a:r>
              <a:rPr lang="en-US" dirty="0"/>
              <a:t>: Vite</a:t>
            </a:r>
          </a:p>
          <a:p>
            <a:r>
              <a:rPr lang="en-US" b="1" dirty="0"/>
              <a:t>Styling</a:t>
            </a:r>
            <a:r>
              <a:rPr lang="en-US" dirty="0"/>
              <a:t>: </a:t>
            </a:r>
            <a:r>
              <a:rPr lang="en-US" dirty="0" err="1"/>
              <a:t>TailwindCSS</a:t>
            </a:r>
            <a:r>
              <a:rPr lang="en-US" dirty="0"/>
              <a:t> v3 + </a:t>
            </a:r>
            <a:r>
              <a:rPr lang="en-US" dirty="0" err="1"/>
              <a:t>shadcn</a:t>
            </a:r>
            <a:r>
              <a:rPr lang="en-US" dirty="0"/>
              <a:t>/</a:t>
            </a:r>
            <a:r>
              <a:rPr lang="en-US" dirty="0" err="1"/>
              <a:t>ui</a:t>
            </a:r>
            <a:endParaRPr lang="en-US" dirty="0"/>
          </a:p>
          <a:p>
            <a:r>
              <a:rPr lang="en-US" b="1" dirty="0"/>
              <a:t>Routing</a:t>
            </a:r>
            <a:r>
              <a:rPr lang="en-US" dirty="0"/>
              <a:t>: React Router v6</a:t>
            </a:r>
          </a:p>
          <a:p>
            <a:r>
              <a:rPr lang="en-US" b="1" dirty="0"/>
              <a:t>State Management</a:t>
            </a:r>
            <a:r>
              <a:rPr lang="en-US" dirty="0"/>
              <a:t>: </a:t>
            </a:r>
            <a:r>
              <a:rPr lang="en-US" dirty="0" err="1"/>
              <a:t>Zustand</a:t>
            </a:r>
            <a:r>
              <a:rPr lang="en-US" dirty="0"/>
              <a:t> with persistence</a:t>
            </a:r>
          </a:p>
          <a:p>
            <a:r>
              <a:rPr lang="en-US" b="1" dirty="0"/>
              <a:t>Animations:</a:t>
            </a:r>
            <a:r>
              <a:rPr lang="en-US" dirty="0"/>
              <a:t> Framer Motion</a:t>
            </a:r>
          </a:p>
          <a:p>
            <a:r>
              <a:rPr lang="en-US" b="1" dirty="0"/>
              <a:t>Icons</a:t>
            </a:r>
            <a:r>
              <a:rPr lang="en-US" dirty="0"/>
              <a:t>: </a:t>
            </a:r>
            <a:r>
              <a:rPr lang="en-US" dirty="0" err="1"/>
              <a:t>Lucide</a:t>
            </a:r>
            <a:r>
              <a:rPr lang="en-US" dirty="0"/>
              <a:t> React</a:t>
            </a:r>
          </a:p>
          <a:p>
            <a:r>
              <a:rPr lang="en-US" b="1" dirty="0"/>
              <a:t>Code Quality</a:t>
            </a:r>
            <a:r>
              <a:rPr lang="en-US" dirty="0"/>
              <a:t>: </a:t>
            </a:r>
            <a:r>
              <a:rPr lang="en-US" dirty="0" err="1"/>
              <a:t>ESLint</a:t>
            </a:r>
            <a:r>
              <a:rPr lang="en-US" dirty="0"/>
              <a:t> + Prettier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86EC7-133C-A0F5-56F4-475D94482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91EA7-CA47-C7F2-0BF4-FB9990FDD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96966-7DAF-F2C9-9504-3276729C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638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Data Flow Diagram (Level 0)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6</a:t>
            </a:fld>
            <a:endParaRPr lang="en-IN"/>
          </a:p>
        </p:txBody>
      </p:sp>
      <p:pic>
        <p:nvPicPr>
          <p:cNvPr id="38" name="Content Placeholder 37">
            <a:extLst>
              <a:ext uri="{FF2B5EF4-FFF2-40B4-BE49-F238E27FC236}">
                <a16:creationId xmlns:a16="http://schemas.microsoft.com/office/drawing/2014/main" id="{F34DE074-B974-DF3E-41AA-52890C770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38" y="1561171"/>
            <a:ext cx="11936306" cy="4638461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Data Flow Diagram(Level 1)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0984" y="1409128"/>
            <a:ext cx="7431616" cy="512978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060"/>
            <a:ext cx="10515600" cy="1325563"/>
          </a:xfrm>
        </p:spPr>
        <p:txBody>
          <a:bodyPr/>
          <a:lstStyle/>
          <a:p>
            <a:pPr algn="ctr"/>
            <a:r>
              <a:rPr lang="en-US" altLang="en-US" dirty="0"/>
              <a:t>Front-End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79984-E4DB-A4DF-2445-2F344825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D80C9-EF9E-E1BB-06F6-EBFA46A40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2319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/>
              <a:t>Home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DC53BF-6AD6-2ED6-6298-4101535693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2000" y="629921"/>
            <a:ext cx="7579360" cy="609155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CFF0D-04BC-C06A-D3B7-2C9ED148C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C1EB5-285F-9658-A225-3BC154296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D1BFA-94DA-A668-0685-E295F9406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706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4E366-A43B-9A05-D0C6-C4D575CF5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AE5F-BE24-DBBA-0FBB-F2351EAA3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2319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/>
              <a:t>Signup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2E2050E-09AB-1206-92ED-8438E6B80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2000" y="629921"/>
            <a:ext cx="7579360" cy="489711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10C4-4F38-5B71-2AD5-4A5679EC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5F387-836A-F4E5-2577-D414EEB5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74B92-F8FC-37FE-667D-80502FA9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930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734B9-89F6-ECB3-F6C3-50747ECED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0454B-ACB5-504C-EE24-B7CD85B1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2319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/>
              <a:t>Login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7F42663-C00D-69A2-7204-9CE19189C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2000" y="629921"/>
            <a:ext cx="7741920" cy="489711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0527F-4F63-E86C-2F96-3D231AB01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917DB-252E-6AEF-A9B8-B692B5C7E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03241-2386-8797-BA99-1C3FE3FBF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77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02FAE-AA52-883C-B8CA-677CBB8DF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65FB-5203-7985-7B5D-5D699D453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2319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/>
              <a:t>Trip Planning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2D73EA-A813-8F98-E10E-206F3EF1BC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2000" y="629921"/>
            <a:ext cx="7741920" cy="609155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46ACB-45DC-F940-28D4-396D63351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73F48-F643-DE65-AA6F-AB1862F7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CAE81-2CFA-FEC8-16E3-6DAD4DFF0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419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2ADEC-CB15-2CA1-790D-056CB3053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34779-E746-36E3-EAF0-CB24BBA6F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2319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/>
              <a:t>Trip Planning Process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7CEF40-CE94-238C-608E-0487E2CC0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2000" y="629921"/>
            <a:ext cx="7741920" cy="609155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14D7E-9596-2F89-75ED-15247FB4D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51A5C-48A2-FADC-29FF-C1EB5B8AF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EC146-7DB8-1308-DC68-F0129816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333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F26E7-4196-9500-89FB-42480CC7F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CF238-E163-D5A8-ECF5-514A6E1D7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2319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/>
              <a:t>Trip Planning Process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EB39D2-AD0A-196B-A94A-49AF8091D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2000" y="629921"/>
            <a:ext cx="7741920" cy="609155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91786-191A-3D3B-DD82-8BC69646B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FA78C-5BC8-4E43-839C-8B890FA06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97664-3058-C329-3967-80B0E69E6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55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2847E-D747-E612-83B5-FBAE12F68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F3E2-79ED-18AB-2519-BB9D77B45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2319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/>
              <a:t>Trip Planning Process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79BC5A5-980C-D8E4-A0EA-B3B78F02BA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2000" y="629921"/>
            <a:ext cx="7741920" cy="609155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B3C1A-E0DF-1F63-2808-24F3CB6DD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E02A9-0E0C-C449-5E0F-2910463C3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2749E-EB3C-9E00-3E9C-94CD980D5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256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D27CF-0F20-C7AF-080F-56353F6B7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D9AEF-C285-75DD-F4E5-546DB2A7E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2319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/>
              <a:t>Trip Planning Process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F34436-BA42-B7BE-7EA4-F35B4C5C52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2000" y="629921"/>
            <a:ext cx="7741920" cy="609155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154A5-047D-D705-8E8D-243EF06F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06558-2400-9972-05CF-1048E048C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C3469-2288-4CA6-22E7-7701BDE9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912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5F348-4FC6-34AE-E4A9-C99487905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7E39-AD91-B3D4-FC67-0954AD27C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2319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/>
              <a:t>Existing Pools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16A6AD-FCBE-26D3-A6AF-CA64E948E9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2000" y="629921"/>
            <a:ext cx="7741920" cy="609155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93F7-C407-7AA6-FB81-180D9A7D1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409CB-124E-B92F-336C-4DFA33C35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8F462-2AB6-D486-BFEA-9EE637B69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30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48B61-2E2D-F9A5-2505-C9FFA153F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1B82-1511-D738-E75B-6A6473DDA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2319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/>
              <a:t>Creating Travel Pool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73CC1F5-6A28-0306-6DC8-5A16FED6F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2000" y="629921"/>
            <a:ext cx="7741920" cy="609155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E0C95-DD2D-0491-DDAB-41F641E8E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59342-32A8-9BF0-7C42-680006724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9D2A7-393F-538C-B0AD-4A8C23FDB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889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/>
              <a:t>ER Diagram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19</a:t>
            </a:fld>
            <a:endParaRPr lang="en-IN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AE34137-A26E-D48A-4178-B07D0C59C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4928" y="1403567"/>
            <a:ext cx="9502144" cy="5089308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F22C3-AB2B-7279-C210-BB3635748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42D85-AD76-C166-E289-CDDC59534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060"/>
            <a:ext cx="10515600" cy="1325563"/>
          </a:xfrm>
        </p:spPr>
        <p:txBody>
          <a:bodyPr/>
          <a:lstStyle/>
          <a:p>
            <a:pPr algn="ctr"/>
            <a:r>
              <a:rPr lang="en-IN" altLang="en-US"/>
              <a:t>Data Dictionary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F1BA5-4557-3F4A-18CC-2E4B3FC51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36E0-FCC2-646B-585A-12B981D8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A792-6EC7-4D59-DEDB-AD0021BD7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271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322" y="320675"/>
            <a:ext cx="10515600" cy="1325563"/>
          </a:xfrm>
        </p:spPr>
        <p:txBody>
          <a:bodyPr/>
          <a:lstStyle/>
          <a:p>
            <a:pPr algn="ctr"/>
            <a:r>
              <a:rPr lang="en-IN" altLang="en-US" b="1" dirty="0"/>
              <a:t>U</a:t>
            </a:r>
            <a:r>
              <a:rPr lang="en-US" b="1" dirty="0"/>
              <a:t>sers</a:t>
            </a:r>
            <a:endParaRPr lang="en-IN" b="1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4301194"/>
              </p:ext>
            </p:extLst>
          </p:nvPr>
        </p:nvGraphicFramePr>
        <p:xfrm>
          <a:off x="838200" y="1825625"/>
          <a:ext cx="105156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user_id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PRIMARY KEY,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Unique ID for each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full_name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Full name of the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UNIQUE, 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Unique email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Encrypted user password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phone_number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NUMBER(10)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User's phone 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User’s date of birth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ENUM('Male', 'Female', 'Other')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User's gender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DBA9A-974A-40CC-95C0-E1368F771825}" type="datetime1">
              <a:rPr lang="en-IN" smtClean="0"/>
              <a:t>17-09-2025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21</a:t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Admins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623387"/>
              </p:ext>
            </p:extLst>
          </p:nvPr>
        </p:nvGraphicFramePr>
        <p:xfrm>
          <a:off x="838200" y="1825625"/>
          <a:ext cx="10515600" cy="1756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654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/>
                        <a:t>Column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/>
                        <a:t>Data Type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/>
                        <a:t>Constraints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dirty="0"/>
                        <a:t>Description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654"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dirty="0"/>
                        <a:t>VARCHAR(</a:t>
                      </a:r>
                      <a:r>
                        <a:rPr lang="en-IN" dirty="0"/>
                        <a:t>50</a:t>
                      </a:r>
                      <a:r>
                        <a:rPr dirty="0"/>
                        <a:t>)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PK</a:t>
                      </a:r>
                      <a:endParaRPr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dirty="0"/>
                        <a:t>Admin email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654">
                <a:tc>
                  <a:txBody>
                    <a:bodyPr/>
                    <a:lstStyle/>
                    <a:p>
                      <a:r>
                        <a:t>password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dirty="0"/>
                        <a:t>VARCHAR(</a:t>
                      </a:r>
                      <a:r>
                        <a:rPr lang="en-IN" dirty="0"/>
                        <a:t>20</a:t>
                      </a:r>
                      <a:r>
                        <a:rPr dirty="0"/>
                        <a:t>)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dirty="0"/>
                        <a:t>Admin hashed password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C72AF-4898-4E7C-A0CE-F315E8B2EE0F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22</a:t>
            </a:fld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941" y="96313"/>
            <a:ext cx="10515600" cy="509779"/>
          </a:xfrm>
        </p:spPr>
        <p:txBody>
          <a:bodyPr>
            <a:normAutofit fontScale="90000"/>
          </a:bodyPr>
          <a:lstStyle/>
          <a:p>
            <a:pPr algn="ctr"/>
            <a:r>
              <a:rPr lang="en-IN" altLang="en-US" b="1" dirty="0"/>
              <a:t>Trips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23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0FCF831-6DE1-2052-EAC0-C7BE581FC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1627F423-506A-17C9-DEC8-899577B56E0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532104"/>
              </p:ext>
            </p:extLst>
          </p:nvPr>
        </p:nvGraphicFramePr>
        <p:xfrm>
          <a:off x="648335" y="522116"/>
          <a:ext cx="10705465" cy="629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947">
                <a:tc>
                  <a:txBody>
                    <a:bodyPr/>
                    <a:lstStyle/>
                    <a:p>
                      <a:r>
                        <a:rPr lang="en-IN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856">
                <a:tc>
                  <a:txBody>
                    <a:bodyPr/>
                    <a:lstStyle/>
                    <a:p>
                      <a:r>
                        <a:rPr lang="en-IN"/>
                        <a:t>trip_id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  <a:r>
                        <a:rPr lang="en-IN" dirty="0"/>
                        <a:t>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PRIMARY KEY,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Unique trip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907">
                <a:tc>
                  <a:txBody>
                    <a:bodyPr/>
                    <a:lstStyle/>
                    <a:p>
                      <a:r>
                        <a:rPr lang="en-IN"/>
                        <a:t>user_id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  <a:r>
                        <a:rPr lang="en-IN" dirty="0"/>
                        <a:t>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FOREIGN KEY REFERENCES users(user_id), 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ID of user who created trip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947">
                <a:tc>
                  <a:txBody>
                    <a:bodyPr/>
                    <a:lstStyle/>
                    <a:p>
                      <a:r>
                        <a:rPr lang="en-IN"/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Starting 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75">
                <a:tc>
                  <a:txBody>
                    <a:bodyPr/>
                    <a:lstStyle/>
                    <a:p>
                      <a:r>
                        <a:rPr lang="en-IN"/>
                        <a:t>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Ending 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633">
                <a:tc>
                  <a:txBody>
                    <a:bodyPr/>
                    <a:lstStyle/>
                    <a:p>
                      <a:r>
                        <a:rPr lang="en-IN"/>
                        <a:t>start_date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Start date of trip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9867">
                <a:tc>
                  <a:txBody>
                    <a:bodyPr/>
                    <a:lstStyle/>
                    <a:p>
                      <a:r>
                        <a:rPr lang="en-IN" dirty="0" err="1"/>
                        <a:t>number_of_days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 number of days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CHECK(</a:t>
                      </a:r>
                      <a:r>
                        <a:rPr lang="en-IN" dirty="0" err="1"/>
                        <a:t>number_of_days</a:t>
                      </a:r>
                      <a:endParaRPr lang="en-IN" dirty="0"/>
                    </a:p>
                    <a:p>
                      <a:r>
                        <a:rPr lang="en-IN" dirty="0"/>
                        <a:t>&lt;=15)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6827">
                <a:tc>
                  <a:txBody>
                    <a:bodyPr/>
                    <a:lstStyle/>
                    <a:p>
                      <a:r>
                        <a:rPr lang="en-IN" dirty="0" err="1"/>
                        <a:t>number_of_people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Number of </a:t>
                      </a:r>
                      <a:r>
                        <a:rPr lang="en-IN" dirty="0" err="1"/>
                        <a:t>travelers</a:t>
                      </a:r>
                      <a:r>
                        <a:rPr lang="en-IN" dirty="0"/>
                        <a:t> CHECK(</a:t>
                      </a:r>
                      <a:r>
                        <a:rPr lang="en-IN" dirty="0" err="1"/>
                        <a:t>number_of_people</a:t>
                      </a:r>
                      <a:endParaRPr lang="en-IN" dirty="0"/>
                    </a:p>
                    <a:p>
                      <a:r>
                        <a:rPr lang="en-IN" dirty="0"/>
                        <a:t>&lt;=15)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947">
                <a:tc>
                  <a:txBody>
                    <a:bodyPr/>
                    <a:lstStyle/>
                    <a:p>
                      <a:r>
                        <a:rPr lang="en-IN"/>
                        <a:t>budget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DECIMAL(10,2)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Total trip budget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947">
                <a:tc>
                  <a:txBody>
                    <a:bodyPr/>
                    <a:lstStyle/>
                    <a:p>
                      <a:r>
                        <a:rPr lang="en-IN"/>
                        <a:t>share_trip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DEFAULT 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Whether trip is shareable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22907">
                <a:tc>
                  <a:txBody>
                    <a:bodyPr/>
                    <a:lstStyle/>
                    <a:p>
                      <a:r>
                        <a:rPr lang="en-IN"/>
                        <a:t>created_at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DEFAULT CURRENT_TIMESTAMP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Trip creation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b="1" dirty="0"/>
              <a:t>P</a:t>
            </a:r>
            <a:r>
              <a:rPr lang="en-US" altLang="en-US" b="1" dirty="0" err="1"/>
              <a:t>ool_Groups</a:t>
            </a:r>
            <a:endParaRPr lang="en-IN" altLang="en-US" b="1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0498933"/>
              </p:ext>
            </p:extLst>
          </p:nvPr>
        </p:nvGraphicFramePr>
        <p:xfrm>
          <a:off x="838200" y="1548765"/>
          <a:ext cx="1070546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055">
                <a:tc>
                  <a:txBody>
                    <a:bodyPr/>
                    <a:lstStyle/>
                    <a:p>
                      <a:r>
                        <a:rPr lang="en-IN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/>
                        <a:t>group_id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PRIMARY KEY,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Unique group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/>
                        <a:t>trip_id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  <a:r>
                        <a:rPr lang="en-IN" dirty="0"/>
                        <a:t>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FOREIGN KEY REFERENCES trips(trip_id), 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Linked trip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/>
                        <a:t>group_status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ENUM('Forming', 'Confirmed', 'Locked', 'Cancelled')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DEFAULT 'Forming'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Current status of group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r>
                        <a:rPr lang="en-IN"/>
                        <a:t>final_bus_id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  <a:r>
                        <a:rPr lang="en-IN" dirty="0"/>
                        <a:t>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FOREIGN KEY REFERENCES buses(</a:t>
                      </a:r>
                      <a:r>
                        <a:rPr lang="en-US" dirty="0" err="1"/>
                        <a:t>bus_id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Selected bus ID for group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IN"/>
                        <a:t>final_hotel_id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FOREIGN KEY REFERENCES hotels(</a:t>
                      </a:r>
                      <a:r>
                        <a:rPr lang="en-US" dirty="0" err="1"/>
                        <a:t>hotel_id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Selected hotel ID for group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24</a:t>
            </a:fld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B6C66-A5DF-8AF5-F676-50D16B07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DA233-C10E-2729-25D9-FED578D13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0134"/>
            <a:ext cx="10515600" cy="1325563"/>
          </a:xfrm>
        </p:spPr>
        <p:txBody>
          <a:bodyPr/>
          <a:lstStyle/>
          <a:p>
            <a:pPr algn="ctr"/>
            <a:r>
              <a:rPr lang="en-IN" altLang="en-US" b="1" dirty="0"/>
              <a:t>Group</a:t>
            </a:r>
            <a:r>
              <a:rPr lang="en-US" altLang="en-US" b="1" dirty="0"/>
              <a:t>_Members</a:t>
            </a:r>
            <a:endParaRPr lang="en-IN" altLang="en-US" b="1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242246D-CFA6-BA4E-82BC-2D865CDB7DA3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7863075"/>
              </p:ext>
            </p:extLst>
          </p:nvPr>
        </p:nvGraphicFramePr>
        <p:xfrm>
          <a:off x="838200" y="924296"/>
          <a:ext cx="10705465" cy="4664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055">
                <a:tc>
                  <a:txBody>
                    <a:bodyPr/>
                    <a:lstStyle/>
                    <a:p>
                      <a:r>
                        <a:rPr lang="en-IN" dirty="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/>
                        <a:t>group_id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  <a:r>
                        <a:rPr lang="en-IN" dirty="0"/>
                        <a:t>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FOREIGN KEY REFERENCES pool_groups(group_id), PART OF 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Group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/>
                        <a:t>user_id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  <a:r>
                        <a:rPr lang="en-IN" dirty="0"/>
                        <a:t>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FOREIGN KEY REFERENCES users(user_id), PART OF 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User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r>
                        <a:rPr lang="en-IN"/>
                        <a:t>join_status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ENUM('Pending', 'Accepted', 'Declined')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DEFAULT 'Pending'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Joining request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IN"/>
                        <a:t>has_dropped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DEFAULT 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Whether user dropped from group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IN" dirty="0" err="1"/>
                        <a:t>booking_status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ENUM('NotStarted', 'Booked', 'Dropped')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DEFAULT 'NotStarted'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User's booking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161638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IN" dirty="0"/>
                        <a:t>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DEFAULT 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Whether user has paid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806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1155A-0A6B-C48A-39AF-C61A08AE9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328A5-81A1-6A38-92C4-DF791E22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83D68-171B-F42B-DB6A-7156833A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385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86C3D-3345-27FB-455D-463809FE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57FAD-14CC-6DAD-A37A-3C8AE8B17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0134"/>
            <a:ext cx="10515600" cy="1325563"/>
          </a:xfrm>
        </p:spPr>
        <p:txBody>
          <a:bodyPr/>
          <a:lstStyle/>
          <a:p>
            <a:pPr algn="ctr"/>
            <a:r>
              <a:rPr lang="en-IN" altLang="en-US" b="1" dirty="0"/>
              <a:t>Buses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A79B4F6-6232-B63C-A392-D3B3C60F4DE3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050427"/>
              </p:ext>
            </p:extLst>
          </p:nvPr>
        </p:nvGraphicFramePr>
        <p:xfrm>
          <a:off x="838200" y="924296"/>
          <a:ext cx="10705465" cy="3658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055">
                <a:tc>
                  <a:txBody>
                    <a:bodyPr/>
                    <a:lstStyle/>
                    <a:p>
                      <a:r>
                        <a:rPr lang="en-IN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/>
                        <a:t>bus_id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  <a:r>
                        <a:rPr lang="en-IN" dirty="0"/>
                        <a:t>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PRIMARY KEY,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Unique bus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/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Bus starting 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/>
                        <a:t>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Bus destination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r>
                        <a:rPr lang="en-IN"/>
                        <a:t>bus_name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Name of the bus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IN"/>
                        <a:t>departure_time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Departure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IN"/>
                        <a:t>arrival_time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Arrival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161638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IN"/>
                        <a:t>price_per_person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DECIMAL(10,2)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Ticket price per person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806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B393F-E034-20CD-CB0C-C6237F83F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14E9D-4E01-C7F3-50FC-39AFA4F9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49F1C-9AFC-52D0-3CEC-725BCE41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87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A69A6-6580-C5A5-285E-58723B41E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73386-CEF3-CC13-097C-88B5C4FF9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0134"/>
            <a:ext cx="10515600" cy="1325563"/>
          </a:xfrm>
        </p:spPr>
        <p:txBody>
          <a:bodyPr/>
          <a:lstStyle/>
          <a:p>
            <a:pPr algn="ctr"/>
            <a:r>
              <a:rPr lang="en-IN" altLang="en-US" b="1" dirty="0"/>
              <a:t>Buses Seats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4FDFA01-F59D-9B82-0D3F-F11CC8627E4C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8248839"/>
              </p:ext>
            </p:extLst>
          </p:nvPr>
        </p:nvGraphicFramePr>
        <p:xfrm>
          <a:off x="838200" y="924296"/>
          <a:ext cx="10705465" cy="2285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055">
                <a:tc>
                  <a:txBody>
                    <a:bodyPr/>
                    <a:lstStyle/>
                    <a:p>
                      <a:r>
                        <a:rPr lang="en-IN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/>
                        <a:t>bus_id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  <a:r>
                        <a:rPr lang="en-IN" dirty="0"/>
                        <a:t>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FOREIGN KEY REFERENCES buses(</a:t>
                      </a:r>
                      <a:r>
                        <a:rPr lang="en-US" dirty="0" err="1"/>
                        <a:t>bus_id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Bus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/>
                        <a:t>travel_date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PART OF PK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Date of travel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 dirty="0" err="1"/>
                        <a:t>Seat_no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DEFAULT 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seats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r>
                        <a:rPr lang="en-IN"/>
                        <a:t>booked_seats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r>
                        <a:rPr lang="en-IN" dirty="0"/>
                        <a:t>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DEFAULT 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Seats booked or not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EBE27-4789-9AB2-25BC-CFF5E523C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F8654-2A3C-1A0F-2FC2-46F4282DB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A4BD1-6DCA-244F-0B0E-F5A4D6AB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885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41FF9-7708-AF64-FE43-7EA61E98E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0EFDD-00EC-AB23-937D-A5CBAD0F6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0134"/>
            <a:ext cx="10515600" cy="1325563"/>
          </a:xfrm>
        </p:spPr>
        <p:txBody>
          <a:bodyPr/>
          <a:lstStyle/>
          <a:p>
            <a:pPr algn="ctr"/>
            <a:r>
              <a:rPr lang="en-IN" altLang="en-US" b="1" dirty="0"/>
              <a:t>Hotels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0B8F532-4408-62B1-128F-2AE1D0626619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3442980"/>
              </p:ext>
            </p:extLst>
          </p:nvPr>
        </p:nvGraphicFramePr>
        <p:xfrm>
          <a:off x="838200" y="924296"/>
          <a:ext cx="1070546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055">
                <a:tc>
                  <a:txBody>
                    <a:bodyPr/>
                    <a:lstStyle/>
                    <a:p>
                      <a:r>
                        <a:rPr lang="en-IN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/>
                        <a:t>hotel_id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  <a:r>
                        <a:rPr lang="en-IN" dirty="0"/>
                        <a:t>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PRIMARY KEY,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Unique hotel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/>
                        <a:t>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City of hotel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/>
                        <a:t>hotel_name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Name of hotel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r>
                        <a:rPr lang="en-IN"/>
                        <a:t>price_per_night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DECIMAL(10,2)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Room price per night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IN"/>
                        <a:t>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DECIMAL(3,2)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NULLABLE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Hotel rating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093C4-967C-82B1-EF1A-29CA5B225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83DB-BB95-C56E-C6C0-0280BD6FD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2E9AA-0337-2686-E6BF-6425EF649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789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86535-3F42-6F97-7CB1-534B1F11F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0852-3B20-9843-851F-9C4D0E10C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0134"/>
            <a:ext cx="10515600" cy="1325563"/>
          </a:xfrm>
        </p:spPr>
        <p:txBody>
          <a:bodyPr/>
          <a:lstStyle/>
          <a:p>
            <a:pPr algn="ctr"/>
            <a:r>
              <a:rPr lang="en-IN" altLang="en-US" b="1" dirty="0"/>
              <a:t>Hotel Rooms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1EF0A7D-FAA6-1788-69C4-2ECBECC21D6C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817575"/>
              </p:ext>
            </p:extLst>
          </p:nvPr>
        </p:nvGraphicFramePr>
        <p:xfrm>
          <a:off x="838200" y="924296"/>
          <a:ext cx="10705465" cy="2285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055">
                <a:tc>
                  <a:txBody>
                    <a:bodyPr/>
                    <a:lstStyle/>
                    <a:p>
                      <a:r>
                        <a:rPr lang="en-IN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/>
                        <a:t>hotel_id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  <a:r>
                        <a:rPr lang="en-IN" dirty="0"/>
                        <a:t>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FOREIGN KEY REFERENCES hotels(</a:t>
                      </a:r>
                      <a:r>
                        <a:rPr lang="en-US" dirty="0" err="1"/>
                        <a:t>hotel_id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Hotel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/>
                        <a:t>available_date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Stay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r>
                        <a:rPr lang="en-IN" dirty="0" err="1"/>
                        <a:t>Room_no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DEFAULT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rooms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r>
                        <a:rPr lang="en-IN"/>
                        <a:t>booked_rooms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DEFAULT 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Rooms booked or not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4271B-377E-DBCC-FA87-3DC2399CC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33E72-E8BE-02A0-AA0C-569EEE13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41120-E536-31D3-30A7-FEB3BC634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5941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9E5DB-A0C8-21EE-5E28-1A2BED042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1E2E8-9F7A-D28E-40B6-732EEE3FE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42452"/>
          </a:xfrm>
        </p:spPr>
        <p:txBody>
          <a:bodyPr>
            <a:normAutofit fontScale="90000"/>
          </a:bodyPr>
          <a:lstStyle/>
          <a:p>
            <a:pPr algn="ctr"/>
            <a:r>
              <a:rPr lang="en-IN" altLang="en-US" b="1" dirty="0"/>
              <a:t>Booking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10F556F-82DB-D889-A9D9-2EF6D29BE451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2859176"/>
              </p:ext>
            </p:extLst>
          </p:nvPr>
        </p:nvGraphicFramePr>
        <p:xfrm>
          <a:off x="838200" y="442452"/>
          <a:ext cx="10705465" cy="6400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8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839">
                <a:tc>
                  <a:txBody>
                    <a:bodyPr/>
                    <a:lstStyle/>
                    <a:p>
                      <a:r>
                        <a:rPr lang="en-IN" sz="1400"/>
                        <a:t>Field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839">
                <a:tc>
                  <a:txBody>
                    <a:bodyPr/>
                    <a:lstStyle/>
                    <a:p>
                      <a:r>
                        <a:rPr lang="en-IN" sz="1400" dirty="0" err="1"/>
                        <a:t>booking_id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</a:t>
                      </a:r>
                      <a:r>
                        <a:rPr lang="en-IN" sz="1400" dirty="0"/>
                        <a:t>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PRIMARY KEY,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Unique booking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lang="en-IN" sz="1400"/>
                        <a:t>user_id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</a:t>
                      </a:r>
                      <a:r>
                        <a:rPr lang="en-IN" sz="1400" dirty="0"/>
                        <a:t>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FOREIGN KEY REFERENCES users(</a:t>
                      </a:r>
                      <a:r>
                        <a:rPr lang="en-US" sz="1400" dirty="0" err="1"/>
                        <a:t>user_id</a:t>
                      </a:r>
                      <a:r>
                        <a:rPr lang="en-US" sz="1400" dirty="0"/>
                        <a:t>), 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User who booked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lang="en-IN" sz="1400"/>
                        <a:t>trip_id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</a:t>
                      </a:r>
                      <a:r>
                        <a:rPr lang="en-IN" sz="1400" dirty="0"/>
                        <a:t>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FOREIGN KEY REFERENCES trips(trip_id), 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Trip linked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lang="en-IN" sz="1400"/>
                        <a:t>hotel_id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</a:t>
                      </a:r>
                      <a:r>
                        <a:rPr lang="en-IN" sz="1400" dirty="0"/>
                        <a:t>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FOREIGN KEY REFERENCES hotels(hotel_id)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Hotel booked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lang="en-IN" sz="1400"/>
                        <a:t>bus_id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</a:t>
                      </a:r>
                      <a:r>
                        <a:rPr lang="en-IN" sz="1400" dirty="0"/>
                        <a:t>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FOREIGN KEY REFERENCES buses(bus_id)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Bus booked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60">
                <a:tc>
                  <a:txBody>
                    <a:bodyPr/>
                    <a:lstStyle/>
                    <a:p>
                      <a:r>
                        <a:rPr lang="en-IN" sz="1400"/>
                        <a:t>total_price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DECIMAL(10,2)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NOT 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Total price paid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161638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lang="en-IN" sz="1400"/>
                        <a:t>booking_status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ENUM('Pending', 'Confirmed', 'Cancelled')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DEFAULT 'Pending'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Status of booking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28066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lang="en-IN" sz="1400"/>
                        <a:t>is_hotel_cancelled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DEFAULT 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Whether hotel booking is cancelled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6274106"/>
                  </a:ext>
                </a:extLst>
              </a:tr>
              <a:tr h="365860">
                <a:tc>
                  <a:txBody>
                    <a:bodyPr/>
                    <a:lstStyle/>
                    <a:p>
                      <a:r>
                        <a:rPr lang="en-IN" sz="1400"/>
                        <a:t>hotel_cancellation_date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NULLABLE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Date of hotel cancellation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711252"/>
                  </a:ext>
                </a:extLst>
              </a:tr>
              <a:tr h="365860">
                <a:tc>
                  <a:txBody>
                    <a:bodyPr/>
                    <a:lstStyle/>
                    <a:p>
                      <a:r>
                        <a:rPr lang="en-IN" sz="1400"/>
                        <a:t>hotel_refund_amount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DECIMAL(10,2)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DEFAULT 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Hotel refund issued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308035"/>
                  </a:ext>
                </a:extLst>
              </a:tr>
              <a:tr h="426344">
                <a:tc>
                  <a:txBody>
                    <a:bodyPr/>
                    <a:lstStyle/>
                    <a:p>
                      <a:r>
                        <a:rPr lang="en-IN" sz="1400"/>
                        <a:t>is_bus_cancelled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DEFAULT 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Whether bus booking is cancelled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130664"/>
                  </a:ext>
                </a:extLst>
              </a:tr>
              <a:tr h="365860">
                <a:tc>
                  <a:txBody>
                    <a:bodyPr/>
                    <a:lstStyle/>
                    <a:p>
                      <a:r>
                        <a:rPr lang="en-IN" sz="1400"/>
                        <a:t>bus_cancellation_date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NULLABLE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Date of bus cancellation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843770"/>
                  </a:ext>
                </a:extLst>
              </a:tr>
              <a:tr h="365860">
                <a:tc>
                  <a:txBody>
                    <a:bodyPr/>
                    <a:lstStyle/>
                    <a:p>
                      <a:r>
                        <a:rPr lang="en-IN" sz="1400"/>
                        <a:t>bus_refund_amount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DECIMAL(10,2)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DEFAULT 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Bus refund issued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7964863"/>
                  </a:ext>
                </a:extLst>
              </a:tr>
              <a:tr h="426344">
                <a:tc>
                  <a:txBody>
                    <a:bodyPr/>
                    <a:lstStyle/>
                    <a:p>
                      <a:r>
                        <a:rPr lang="en-IN" sz="1400"/>
                        <a:t>created_at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DEFAULT CURRENT_TIMESTAMP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Booking creation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274226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FCC63-EB3E-46DE-481D-9E3C25C77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93AF2-A06E-A2B8-76D8-E595403D6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91CBE-E1EF-3C7E-106E-4F53507D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8227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720" y="2766060"/>
            <a:ext cx="10515600" cy="1325563"/>
          </a:xfrm>
        </p:spPr>
        <p:txBody>
          <a:bodyPr/>
          <a:lstStyle/>
          <a:p>
            <a:pPr algn="ctr"/>
            <a:r>
              <a:rPr lang="en-IN" altLang="en-US"/>
              <a:t>Sample Queries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31</a:t>
            </a:fld>
            <a:endParaRPr lang="en-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-24814"/>
            <a:ext cx="10515600" cy="779878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/>
              <a:t>available seats in a bus for a given date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9799" y="609600"/>
            <a:ext cx="7774765" cy="588327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32</a:t>
            </a:fld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dirty="0"/>
              <a:t>available rooms in hotels for given date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67" b="17967"/>
          <a:stretch/>
        </p:blipFill>
        <p:spPr>
          <a:xfrm>
            <a:off x="1645919" y="1422194"/>
            <a:ext cx="9304868" cy="474383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33</a:t>
            </a:fld>
            <a:endParaRPr lang="en-I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8506" y="268306"/>
            <a:ext cx="10515600" cy="1325563"/>
          </a:xfrm>
        </p:spPr>
        <p:txBody>
          <a:bodyPr/>
          <a:lstStyle/>
          <a:p>
            <a:r>
              <a:rPr lang="en-US" altLang="en-US" dirty="0"/>
              <a:t>number of trips between a given date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8730" y="1820334"/>
            <a:ext cx="8769815" cy="384831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34</a:t>
            </a:fld>
            <a:endParaRPr lang="en-I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BE18-5C42-2199-FD19-11B222D80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962C-F15D-B4B9-00A9-3299EEC2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Number of active pool groups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C8FA5CC-0331-BDC3-DAA7-741951EEAC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8730" y="1820334"/>
            <a:ext cx="8769815" cy="384831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A7443-4837-3083-1C04-8425A4B3D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BEBAB-60DA-A2EC-F98E-3E41110AD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8D95-CE88-B0FF-9760-FBCF09D29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6465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2F86B-94F7-54AA-E9F7-92DF32EE0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04965-86E9-8536-31C9-9378F8FE7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packages available for a trip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E4D49C-8FB4-446D-C083-18DC9BC03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8730" y="1473797"/>
            <a:ext cx="8769815" cy="471184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CC6A6-71FB-914E-F82C-0355EBF81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CE2CD-EA0B-5166-6839-CA90BDA73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AE91-5451-FAF1-51FD-620C77DD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5268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DA948-3358-A9C6-D985-9A909FB4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7C6FB-CDFC-AD83-7702-931ACF787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booking summary with bus and hotel info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E64679-E673-9652-A518-AA141CFAE7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8730" y="1441525"/>
            <a:ext cx="9621948" cy="475488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28D3F-0FD5-0EDC-1FA7-23CD07B04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68566-C6F7-11ED-1555-E9438B0BA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1E7E1-072E-7E97-B845-A26B6E134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4425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9F694-68B4-1DD3-2B75-BAD806C8C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46E93-4882-AA3C-7AA9-F329FB4B0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Number of Users requesting to join group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975EE5-15E3-1043-CF7B-CD6819DD5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8730" y="1820334"/>
            <a:ext cx="8769815" cy="384831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2A040-8171-3F9C-BA2D-8261E444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596FC-B200-4EE2-7F73-6798D828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3316D-C5EC-011F-AEA8-22B5D3D9B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8668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2E970-00AA-4D4D-0F39-802B8856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D42DE-6D02-8255-0A4B-4A9790026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trip wise count of pool groups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757A251-7B16-F1C9-CD7A-0AE54B1C6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0046" y="1552576"/>
            <a:ext cx="6151908" cy="41579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00C92-E8A4-3D44-B32C-527EA1AC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EA0FA-DD85-36E4-664B-2B47BCAA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4AB23-8016-065A-A31B-23395E46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2356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B5CBC-4997-5196-CD8C-026C4D8EB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B74A5-DB60-5FBC-C990-5ADBB2225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trip where pool groups are closed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71D4507-3966-1132-95A7-A6F3845F0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0046" y="1552576"/>
            <a:ext cx="6151908" cy="41579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3F763-4690-A3B0-E214-31BC292CC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C9836-A679-C535-8F92-0D7DD46D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1F7F3-8701-45E2-F59A-B20D3A746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4721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DEE5A-8762-E949-4C74-EA490E158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D63F-8590-7EE4-2C55-D33F6CFA5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destination wise active groups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F9C037-7D25-6CFD-66C8-362FC015EB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0046" y="1552576"/>
            <a:ext cx="6151908" cy="41579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4B5B0-B067-5FE8-279F-1990EAE9E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7494C-FDBC-D584-A141-C6E076BE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21B39-6106-41BA-E183-E4D391CB8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2522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6A420-034A-7419-63B8-173AA357B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3849F-CFB1-1F94-3F0D-758FF3248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200" dirty="0"/>
              <a:t>group members who have joined but haven't booked yet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CB28121-4439-3F1C-1485-48469F3FC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0046" y="1552576"/>
            <a:ext cx="6151908" cy="41579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08664-60E1-7208-EEB6-ED7878139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53138-CD45-79D2-E01E-9D0A6B84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9D39A-3F95-7F7B-B80E-785418038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4843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0A6F7-C157-87C8-9CDE-CE6049FF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6EA6A-595B-6519-7634-8C17E6FA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dirty="0"/>
              <a:t>users registration in last 30 days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80A5FC-6597-234A-B678-94656C6B83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0046" y="1552576"/>
            <a:ext cx="6151908" cy="41579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F1A9E-EB52-5CA3-10B4-04EA3A75B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2E244-43E5-23C7-C653-211A8A5F8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4CAFF-7196-99AC-7499-B7D0C560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2682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A50C8-BF0B-B9B9-7E1E-028A432D1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A76E-33B7-8DA0-BAFC-8AAC535E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200" dirty="0"/>
              <a:t>members agreed to share trip but not made any booking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36DC31F-3EA4-E525-626B-B59158ED3A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0046" y="1552576"/>
            <a:ext cx="6151908" cy="41579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0BE1E-A4D7-2CE0-15F5-5A210E9B8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C1583-2393-7A32-3AEC-BCF538B98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CF77E-CF39-13CE-067C-99A8CB43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5288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21B7A-5B65-AFA0-9FDA-1B1E68165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DC3DA-B9C9-1326-0C87-67915B297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dirty="0"/>
              <a:t>destination wise upcoming trips summary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35941A-9BFB-6121-0E45-D8D3D9230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0046" y="1552576"/>
            <a:ext cx="6151908" cy="41579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39AE9-D324-88BF-1F52-DC694B17A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607D5-5A33-61AB-60FD-D07936AE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0950A-EE58-B487-106D-2EF552BF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9429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D15F-B66E-148D-2A0C-662A76A5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16D6-022E-0E0D-1507-01FCEB88D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13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/>
              <a:t>Complete Booking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59F0A-5956-AEA6-A25D-FC4DD66C0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ABC5D-CD36-A9DA-91B9-8510B0923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53F2E-1779-F6E9-A7B6-542618F81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46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C3E943-4C1A-393B-56E3-D5A1DB648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56" y="993345"/>
            <a:ext cx="4354979" cy="5545567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196AB7A-78AA-1CFC-3444-C2345E8796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20"/>
          <a:stretch/>
        </p:blipFill>
        <p:spPr>
          <a:xfrm>
            <a:off x="4682266" y="4824274"/>
            <a:ext cx="7121562" cy="171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717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6AC2D-FE0C-517B-EBFA-28D0071B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035B-1D13-7EEF-18CD-356E7D866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13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/>
              <a:t>Users Booking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39B45-C4B8-6AD2-03E9-BD30D340F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F2A4C-1698-3117-79D7-5C84EA538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B8156-4BFC-A60D-1DE1-87664973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47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99BE66-A41F-22B3-7BBF-92AB8E45B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476" y="810783"/>
            <a:ext cx="4275993" cy="5545567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FE021DC-4E56-870C-CF69-F47C899CA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2" r="23392"/>
          <a:stretch/>
        </p:blipFill>
        <p:spPr>
          <a:xfrm>
            <a:off x="4232238" y="4641712"/>
            <a:ext cx="7121562" cy="171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6124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A4431-3D40-9334-56BA-A42D6956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9432D-AD0B-F7F1-2211-FE88359CA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dirty="0"/>
              <a:t>Ledger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24CE271-C2FE-7652-7D2A-A85DCF61A0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58065" y="1582073"/>
            <a:ext cx="7142363" cy="41579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3D420-72FC-9840-7A6B-A57638047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C12B3-FF8E-6321-4DBF-AF7B9A18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EC055-CCA2-CAA6-CBCA-29FA17C84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8560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Future Scope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future phases, we aim to integrate a </a:t>
            </a:r>
            <a:r>
              <a:rPr lang="en-US" b="1" dirty="0"/>
              <a:t>real-time chat system</a:t>
            </a:r>
            <a:r>
              <a:rPr lang="en-US" dirty="0"/>
              <a:t> that will allow travelers within a group to communicate seamlessly before and during their journeys. We also plan to extend booking capabilities beyond buses and hotels by introducing </a:t>
            </a:r>
            <a:r>
              <a:rPr lang="en-US" b="1" dirty="0"/>
              <a:t>flight booking options</a:t>
            </a:r>
            <a:r>
              <a:rPr lang="en-US" dirty="0"/>
              <a:t>, catering to a wider range of travel preferences. Furthermore, the platform will support </a:t>
            </a:r>
            <a:r>
              <a:rPr lang="en-US" b="1" dirty="0"/>
              <a:t>smart itinerary planning</a:t>
            </a:r>
            <a:r>
              <a:rPr lang="en-US" dirty="0"/>
              <a:t>, enabling users to discover attractions, restaurants, and activities personalized to their trip schedule and budget. These enhancements will not only provide a comprehensive end-to-end travel solution but also foster stronger community engagement and deliver a richer, more intelligent travel experience for users.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49</a:t>
            </a:fld>
            <a:endParaRPr lang="en-IN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Fundamentals Of Database System – Elmasri &amp; Navathe</a:t>
            </a: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AC89-A038-4147-B5CD-BFA395D2B325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B6CFF-86B4-4189-B5D6-4E9D6E3493B6}" type="slidenum">
              <a:rPr lang="en-IN" smtClean="0"/>
              <a:t>50</a:t>
            </a:fld>
            <a:endParaRPr lang="en-IN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2*407"/>
  <p:tag name="TABLE_ENDDRAG_RECT" val="66*121*842*40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2*407"/>
  <p:tag name="TABLE_ENDDRAG_RECT" val="66*121*842*40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2*407"/>
  <p:tag name="TABLE_ENDDRAG_RECT" val="66*121*842*40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2*407"/>
  <p:tag name="TABLE_ENDDRAG_RECT" val="66*121*842*40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2*407"/>
  <p:tag name="TABLE_ENDDRAG_RECT" val="66*121*842*40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2*407"/>
  <p:tag name="TABLE_ENDDRAG_RECT" val="66*121*842*40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2*407"/>
  <p:tag name="TABLE_ENDDRAG_RECT" val="66*121*842*40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2*407"/>
  <p:tag name="TABLE_ENDDRAG_RECT" val="66*121*842*40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1625</Words>
  <Application>Microsoft Office PowerPoint</Application>
  <PresentationFormat>Widescreen</PresentationFormat>
  <Paragraphs>489</Paragraphs>
  <Slides>50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Aptos</vt:lpstr>
      <vt:lpstr>Arial</vt:lpstr>
      <vt:lpstr>Calibri</vt:lpstr>
      <vt:lpstr>Calibri Light</vt:lpstr>
      <vt:lpstr>Office Theme</vt:lpstr>
      <vt:lpstr>Title of Project : Plan My Journey</vt:lpstr>
      <vt:lpstr>Content</vt:lpstr>
      <vt:lpstr>Introduction</vt:lpstr>
      <vt:lpstr>About The Project</vt:lpstr>
      <vt:lpstr>Techstack</vt:lpstr>
      <vt:lpstr>Data Flow Diagram (Level 0)</vt:lpstr>
      <vt:lpstr>Data Flow Diagram(Level 1)</vt:lpstr>
      <vt:lpstr>Front-End</vt:lpstr>
      <vt:lpstr>Home Page</vt:lpstr>
      <vt:lpstr>Signup Page</vt:lpstr>
      <vt:lpstr>Login Page</vt:lpstr>
      <vt:lpstr>Trip Planning </vt:lpstr>
      <vt:lpstr>Trip Planning Process</vt:lpstr>
      <vt:lpstr>Trip Planning Process</vt:lpstr>
      <vt:lpstr>Trip Planning Process</vt:lpstr>
      <vt:lpstr>Trip Planning Process</vt:lpstr>
      <vt:lpstr>Existing Pools</vt:lpstr>
      <vt:lpstr>Creating Travel Pool</vt:lpstr>
      <vt:lpstr>ER Diagram</vt:lpstr>
      <vt:lpstr>Data Dictionary</vt:lpstr>
      <vt:lpstr>Users</vt:lpstr>
      <vt:lpstr>Admins</vt:lpstr>
      <vt:lpstr>Trips</vt:lpstr>
      <vt:lpstr>Pool_Groups</vt:lpstr>
      <vt:lpstr>Group_Members</vt:lpstr>
      <vt:lpstr>Buses</vt:lpstr>
      <vt:lpstr>Buses Seats</vt:lpstr>
      <vt:lpstr>Hotels</vt:lpstr>
      <vt:lpstr>Hotel Rooms</vt:lpstr>
      <vt:lpstr>Booking</vt:lpstr>
      <vt:lpstr>Sample Queries</vt:lpstr>
      <vt:lpstr>available seats in a bus for a given date</vt:lpstr>
      <vt:lpstr>available rooms in hotels for given date</vt:lpstr>
      <vt:lpstr>number of trips between a given date</vt:lpstr>
      <vt:lpstr>Number of active pool groups</vt:lpstr>
      <vt:lpstr>packages available for a trip</vt:lpstr>
      <vt:lpstr>booking summary with bus and hotel info</vt:lpstr>
      <vt:lpstr>Number of Users requesting to join group </vt:lpstr>
      <vt:lpstr>trip wise count of pool groups</vt:lpstr>
      <vt:lpstr>trip where pool groups are closed</vt:lpstr>
      <vt:lpstr>destination wise active groups</vt:lpstr>
      <vt:lpstr>group members who have joined but haven't booked yet</vt:lpstr>
      <vt:lpstr>users registration in last 30 days</vt:lpstr>
      <vt:lpstr>members agreed to share trip but not made any booking</vt:lpstr>
      <vt:lpstr>destination wise upcoming trips summary</vt:lpstr>
      <vt:lpstr>Complete Booking</vt:lpstr>
      <vt:lpstr>Users Booking</vt:lpstr>
      <vt:lpstr>Ledger</vt:lpstr>
      <vt:lpstr>Future Scope &amp; 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Jain</dc:creator>
  <cp:lastModifiedBy>shristi kumari</cp:lastModifiedBy>
  <cp:revision>25</cp:revision>
  <dcterms:created xsi:type="dcterms:W3CDTF">2024-07-12T11:19:00Z</dcterms:created>
  <dcterms:modified xsi:type="dcterms:W3CDTF">2025-09-16T20:32:04Z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5E5BE78515084EF0AF4B0F8AD112ED07_12</vt:lpwstr>
  </property>
  <property fmtid="{D5CDD505-2E9C-101B-9397-08002B2CF9AE}" pid="3" name="KSOProductBuildVer">
    <vt:lpwstr>1033-12.2.0.20795</vt:lpwstr>
  </property>
</Properties>
</file>